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56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14499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13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14499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13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27449562"/>
            <a:ext cx="5283200" cy="14499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13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27449562"/>
            <a:ext cx="5283200" cy="14499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13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9_Robots_in_Construction_2025_How_AI.png"/>
          <p:cNvPicPr>
            <a:picLocks noChangeAspect="1"/>
          </p:cNvPicPr>
          <p:nvPr/>
        </p:nvPicPr>
        <p:blipFill>
          <a:blip r:embed="rId1"/>
          <a:srcRect t="7821" b="78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0000"/>
                </a:srgbClr>
              </a:gs>
              <a:gs pos="50000">
                <a:srgbClr val="000000">
                  <a:alpha val="60000"/>
                </a:srgbClr>
              </a:gs>
              <a:gs pos="100000">
                <a:srgbClr val="000000">
                  <a:alpha val="80000"/>
                </a:srgbClr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318000" y="2476500"/>
            <a:ext cx="762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100" dirty="0">
                <a:solidFill>
                  <a:srgbClr val="93C5FD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 · AI 分享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413000" y="3048000"/>
            <a:ext cx="11430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 时代：</a:t>
            </a:r>
            <a:endParaRPr lang="en-US" sz="4800" dirty="0"/>
          </a:p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我们的选择与行动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366000" y="4953000"/>
            <a:ext cx="1524000" cy="38100"/>
          </a:xfrm>
          <a:prstGeom prst="rect">
            <a:avLst/>
          </a:prstGeom>
          <a:gradFill flip="none" rotWithShape="1">
            <a:gsLst>
              <a:gs pos="0">
                <a:srgbClr val="1A56DB"/>
              </a:gs>
              <a:gs pos="100000">
                <a:srgbClr val="93C5FD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683000" y="52705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从趋势到行动，AI如何重塑我们的行业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53000" y="82550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 AI 宣讲 · 2026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 · AI 分享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508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目录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016000" cy="381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318000" y="2286000"/>
            <a:ext cx="7620000" cy="889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1A56D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635500" y="2476500"/>
            <a:ext cx="508000" cy="508000"/>
          </a:xfrm>
          <a:prstGeom prst="ellipse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635500" y="2476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0" y="24765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趋势认知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525000" y="25654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25000" y="2565400"/>
            <a:ext cx="177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为什么要做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64100" y="3175000"/>
            <a:ext cx="25400" cy="254000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18000" y="3429000"/>
            <a:ext cx="7620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635500" y="3619500"/>
            <a:ext cx="508000" cy="508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35500" y="3619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0" y="36195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行业变化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525000" y="37084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25000" y="3708400"/>
            <a:ext cx="177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别人在做什么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64100" y="4318000"/>
            <a:ext cx="25400" cy="254000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318000" y="4572000"/>
            <a:ext cx="7620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635500" y="4762500"/>
            <a:ext cx="508000" cy="508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35500" y="4762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4000" y="47625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战略选层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525000" y="48514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525000" y="4851400"/>
            <a:ext cx="177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选对层级再行动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64100" y="5461000"/>
            <a:ext cx="25400" cy="254000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318000" y="5715000"/>
            <a:ext cx="7620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635500" y="5905500"/>
            <a:ext cx="508000" cy="508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35500" y="5905500"/>
            <a:ext cx="50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34000" y="59055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实践路径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525000" y="59944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525000" y="5994400"/>
            <a:ext cx="177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我们怎么做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2_1_100_Crane_Over_Construction_Site.png"/>
          <p:cNvPicPr>
            <a:picLocks noChangeAspect="1"/>
          </p:cNvPicPr>
          <p:nvPr/>
        </p:nvPicPr>
        <p:blipFill>
          <a:blip r:embed="rId1"/>
          <a:srcRect t="7812" b="781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40AF"/>
              </a:gs>
              <a:gs pos="60000">
                <a:srgbClr val="1E40AF">
                  <a:alpha val="80000"/>
                </a:srgbClr>
              </a:gs>
              <a:gs pos="100000">
                <a:srgbClr val="1E40AF">
                  <a:alpha val="53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62000" y="2286000"/>
            <a:ext cx="381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01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635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趋势认知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62000" y="5207000"/>
            <a:ext cx="635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为什么要做 — 从国家要求到集团落地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381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第一部分 · 趋势认知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</a:t>
            </a:r>
            <a:r>
              <a:rPr lang="zh-CN" alt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正在成为时代的</a:t>
            </a:r>
            <a:r>
              <a:rPr lang="zh-CN" alt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主旋律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4559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164719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2.59万亿</a:t>
            </a:r>
            <a:r>
              <a:rPr lang="en-US" sz="20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美元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2307590"/>
            <a:ext cx="419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2026年全球AI总支出（预测）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两年增长超160%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0" y="154559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69000" y="164719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中美博弈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69000" y="2307590"/>
            <a:ext cx="419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芯片受制，但应用场景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是我们的优势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668000" y="154559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22000" y="1647190"/>
            <a:ext cx="431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922000" y="230759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继"互联网+"之后的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十年级浪潮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2000" y="338074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政策加速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62000" y="3888740"/>
          <a:ext cx="14693265" cy="2667000"/>
        </p:xfrm>
        <a:graphic>
          <a:graphicData uri="http://schemas.openxmlformats.org/drawingml/2006/table">
            <a:tbl>
              <a:tblPr/>
              <a:tblGrid>
                <a:gridCol w="1607820"/>
                <a:gridCol w="5176520"/>
                <a:gridCol w="7908925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9CA3A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2017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国务院《新一代人工智能发展规划》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首个AI国家战略框架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，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确立"三步走"目标（2020/2025/2030）</a:t>
                      </a:r>
                      <a:endParaRPr lang="en-US" sz="1600" dirty="0">
                        <a:solidFill>
                          <a:schemeClr val="bg1"/>
                        </a:solidFill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6350">
                      <a:solidFill>
                        <a:srgbClr val="CCCCCC"/>
                      </a:solidFill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A56DB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2024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"人工智能+"首次写入两会政府工作报告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首次提出"开展AI+行动"</a:t>
                      </a:r>
                      <a:r>
                        <a:rPr lang="zh-CN" alt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，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强调AI与各行业深度融合</a:t>
                      </a:r>
                      <a:endParaRPr lang="en-US" sz="1600" dirty="0">
                        <a:solidFill>
                          <a:srgbClr val="111827"/>
                        </a:solidFill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6350">
                      <a:solidFill>
                        <a:srgbClr val="CCCCCC"/>
                      </a:solidFill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C0000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2025.3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再次写入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，措辞升级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措辞升级为"持续推进"</a:t>
                      </a:r>
                      <a:r>
                        <a:rPr lang="zh-CN" alt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，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明确"支持大模型广泛应用"</a:t>
                      </a:r>
                      <a:endParaRPr lang="en-US" sz="1600" dirty="0">
                        <a:solidFill>
                          <a:srgbClr val="111827"/>
                        </a:solidFill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6350">
                      <a:solidFill>
                        <a:srgbClr val="CCCCCC"/>
                      </a:solidFill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CC0000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2025.8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国务院专文部署（国发〔2025〕11号）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首次提出量化指标</a:t>
                      </a:r>
                      <a:r>
                        <a:rPr lang="zh-CN" alt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：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2027普及率&gt;70%</a:t>
                      </a:r>
                      <a:r>
                        <a:rPr lang="zh-CN" alt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；</a:t>
                      </a:r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2030普及率&gt;90%</a:t>
                      </a:r>
                      <a:endParaRPr lang="en-US" sz="1600" dirty="0">
                        <a:solidFill>
                          <a:srgbClr val="111827"/>
                        </a:solidFill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6350">
                      <a:solidFill>
                        <a:srgbClr val="CCCCCC"/>
                      </a:solidFill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2379575" y="6743700"/>
            <a:ext cx="2159000" cy="12446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379575" y="6807200"/>
            <a:ext cx="2159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2027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443075" y="728980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智能终端普及率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&gt; 70%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33415" y="6743700"/>
            <a:ext cx="2159000" cy="12446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33415" y="6807200"/>
            <a:ext cx="2159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2030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496915" y="7289800"/>
            <a:ext cx="203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 全面赋能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&gt; 90%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475190" y="6743700"/>
            <a:ext cx="2286000" cy="12446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475190" y="6807200"/>
            <a:ext cx="2286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2035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0538690" y="7289800"/>
            <a:ext cx="2159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全面步入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智能社会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62000" y="8372500"/>
            <a:ext cx="13970000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来源：Gartner（2026年5月）；国务院国发〔2017〕35号、国发〔2025〕11号；2024/2025 全国两会政府工作报告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第一部分 · 趋势认知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zh-CN" alt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  <a:sym typeface="+mn-ea"/>
              </a:rPr>
              <a:t>国家的期望很高，</a:t>
            </a: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建筑业</a:t>
            </a:r>
            <a:r>
              <a:rPr lang="zh-CN" alt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的</a:t>
            </a: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数字化</a:t>
            </a:r>
            <a:r>
              <a:rPr lang="zh-CN" alt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程度很低，但</a:t>
            </a: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差距</a:t>
            </a:r>
            <a:r>
              <a:rPr lang="zh-CN" alt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也是机会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04315"/>
            <a:ext cx="6096000" cy="20955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16000" y="1631315"/>
            <a:ext cx="5588000" cy="825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1.375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16000" y="2520315"/>
            <a:ext cx="558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McKinsey 数字化指数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2901315"/>
            <a:ext cx="558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制造业 3.5 · 全球均值 3.0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853815"/>
            <a:ext cx="6096000" cy="20955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6000" y="3980815"/>
            <a:ext cx="5588000" cy="825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&lt;1%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016000" y="4869815"/>
            <a:ext cx="558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IT 支出占收入比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6000" y="5250815"/>
            <a:ext cx="558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制造业约 3%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39000" y="1504315"/>
            <a:ext cx="8255000" cy="444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20000" y="1948815"/>
            <a:ext cx="7493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差距在，但条件已经具备了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20000" y="3218815"/>
            <a:ext cx="7493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zh-CN" alt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企业管理工作已经</a:t>
            </a:r>
            <a:r>
              <a:rPr lang="zh-CN" alt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全面数字化</a:t>
            </a:r>
            <a:endParaRPr lang="en-US" sz="1800" dirty="0">
              <a:solidFill>
                <a:srgbClr val="4B5563"/>
              </a:solidFill>
              <a:latin typeface="MiSans Semibold" panose="00000700000000000000" charset="-122"/>
              <a:ea typeface="MiSans Semibold" panose="00000700000000000000" charset="-122"/>
              <a:cs typeface="MiSans Semibold" panose="00000700000000000000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规划、设计已经</a:t>
            </a:r>
            <a:r>
              <a:rPr lang="zh-CN" alt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全面数字化</a:t>
            </a:r>
            <a:endParaRPr lang="en-US" sz="1800" dirty="0">
              <a:solidFill>
                <a:srgbClr val="4B5563"/>
              </a:solidFill>
              <a:latin typeface="MiSans Semibold" panose="00000700000000000000" charset="-122"/>
              <a:ea typeface="MiSans Semibold" panose="00000700000000000000" charset="-122"/>
              <a:cs typeface="MiSans Semibold" panose="00000700000000000000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施工</a:t>
            </a: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现场</a:t>
            </a:r>
            <a:r>
              <a:rPr lang="zh-CN" alt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持续</a:t>
            </a:r>
            <a:r>
              <a:rPr lang="zh-CN" alt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推进数字化</a:t>
            </a:r>
            <a:endParaRPr lang="en-US" sz="1800" dirty="0">
              <a:solidFill>
                <a:srgbClr val="4B5563"/>
              </a:solidFill>
              <a:latin typeface="MiSans Semibold" panose="00000700000000000000" charset="-122"/>
              <a:ea typeface="MiSans Semibold" panose="00000700000000000000" charset="-122"/>
              <a:cs typeface="MiSans Semibold" panose="00000700000000000000" charset="-122"/>
            </a:endParaRPr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国务院对建筑业</a:t>
            </a:r>
            <a:r>
              <a:rPr lang="zh-CN" alt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的要求</a:t>
            </a:r>
            <a:r>
              <a:rPr lang="en-US" altLang="zh-CN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</a:t>
            </a: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：产业升级、"好房子"、城市治理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8664600"/>
            <a:ext cx="10160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来源：McKinsey Global Institute 2017</a:t>
            </a:r>
            <a:endParaRPr lang="en-US" sz="13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800000" y="6450000"/>
            <a:ext cx="5000000" cy="80000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1">
                <a:latin typeface="??"/>
                <a:ea typeface="??"/>
              </a:rPr>
              <a:t>"</a:t>
            </a:r>
            <a:r>
              <a:rPr lang="zh-CN" altLang="en-US" sz="1600" b="0" i="1">
                <a:latin typeface="??"/>
                <a:ea typeface="??"/>
              </a:rPr>
              <a:t>拓展人工智能在</a:t>
            </a:r>
            <a:r>
              <a:rPr lang="en-US" altLang="zh-CN" sz="1600" b="0" i="1">
                <a:latin typeface="??"/>
                <a:ea typeface="??"/>
              </a:rPr>
              <a:t>'</a:t>
            </a:r>
            <a:r>
              <a:rPr lang="zh-CN" altLang="en-US" sz="1600" b="0" i="1">
                <a:latin typeface="??"/>
                <a:ea typeface="??"/>
              </a:rPr>
              <a:t>好房子</a:t>
            </a:r>
            <a:r>
              <a:rPr lang="en-US" altLang="zh-CN" sz="1600" b="0" i="1">
                <a:latin typeface="??"/>
                <a:ea typeface="??"/>
              </a:rPr>
              <a:t>'</a:t>
            </a:r>
            <a:r>
              <a:rPr lang="zh-CN" altLang="en-US" sz="1600" b="0" i="1">
                <a:latin typeface="??"/>
                <a:ea typeface="??"/>
              </a:rPr>
              <a:t>全生命周期的应用，积极构建更有温度的智能社会。</a:t>
            </a:r>
            <a:r>
              <a:rPr lang="en-US" altLang="zh-CN" sz="1600" b="0" i="1">
                <a:latin typeface="??"/>
                <a:ea typeface="??"/>
              </a:rPr>
              <a:t>"</a:t>
            </a:r>
            <a:endParaRPr lang="en-US" altLang="zh-CN" sz="1600" b="0" i="1">
              <a:latin typeface="??"/>
              <a:ea typeface="??"/>
            </a:endParaRPr>
          </a:p>
          <a:p>
            <a:pPr>
              <a:spcBef>
                <a:spcPts val="400"/>
              </a:spcBef>
            </a:pPr>
            <a:r>
              <a:rPr sz="700" i="1">
                <a:solidFill>
                  <a:srgbClr val="888888"/>
                </a:solidFill>
                <a:latin typeface="Microsoft YaHei"/>
              </a:rPr>
              <a:t>—— 国发〔2025〕11号 · 人工智能+民生福祉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600000" y="6450000"/>
            <a:ext cx="5000000" cy="80000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1">
                <a:latin typeface="??"/>
                <a:ea typeface="??"/>
              </a:rPr>
              <a:t>"</a:t>
            </a:r>
            <a:r>
              <a:rPr lang="zh-CN" altLang="en-US" sz="1600" b="0" i="1">
                <a:latin typeface="??"/>
                <a:ea typeface="??"/>
              </a:rPr>
              <a:t>有序推动市政基础设施智能化改造升级，探索面向新一代智能终端发展的城市规划、建设与治理，提升城市运行智能化水平。</a:t>
            </a:r>
            <a:r>
              <a:rPr lang="en-US" altLang="zh-CN" sz="1600" b="0" i="1">
                <a:latin typeface="??"/>
                <a:ea typeface="??"/>
              </a:rPr>
              <a:t>"</a:t>
            </a:r>
            <a:endParaRPr lang="en-US" altLang="zh-CN" sz="1600" b="0" i="1">
              <a:latin typeface="??"/>
              <a:ea typeface="??"/>
            </a:endParaRPr>
          </a:p>
          <a:p>
            <a:pPr>
              <a:spcBef>
                <a:spcPts val="400"/>
              </a:spcBef>
            </a:pPr>
            <a:r>
              <a:rPr sz="700" i="1">
                <a:solidFill>
                  <a:srgbClr val="888888"/>
                </a:solidFill>
                <a:latin typeface="Microsoft YaHei"/>
              </a:rPr>
              <a:t>—— 国发〔2025〕11号 · 人工智能+治理能力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200000" y="7550000"/>
            <a:ext cx="6000000" cy="60000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1">
                <a:latin typeface="??"/>
                <a:ea typeface="??"/>
              </a:rPr>
              <a:t>"</a:t>
            </a:r>
            <a:r>
              <a:rPr lang="zh-CN" altLang="en-US" sz="1600" b="0" i="1">
                <a:latin typeface="??"/>
                <a:ea typeface="??"/>
              </a:rPr>
              <a:t>发展智能建造，培育现代化建筑产业链。</a:t>
            </a:r>
            <a:r>
              <a:rPr lang="en-US" altLang="zh-CN" sz="1600" b="0" i="1">
                <a:latin typeface="??"/>
                <a:ea typeface="??"/>
              </a:rPr>
              <a:t>"</a:t>
            </a:r>
            <a:endParaRPr lang="en-US" altLang="zh-CN" sz="1600" b="0" i="1">
              <a:latin typeface="??"/>
              <a:ea typeface="??"/>
            </a:endParaRPr>
          </a:p>
          <a:p>
            <a:pPr>
              <a:spcBef>
                <a:spcPts val="400"/>
              </a:spcBef>
            </a:pPr>
            <a:r>
              <a:rPr sz="700" i="1">
                <a:solidFill>
                  <a:srgbClr val="888888"/>
                </a:solidFill>
                <a:latin typeface="Microsoft YaHei"/>
              </a:rPr>
              <a:t>—— 2026年政府工作报告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第一部分 · 趋势认知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集团内部：AI 生态已激活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11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国资委明确了三件事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1A56DB"/>
                </a:solidFill>
                <a:highlight>
                  <a:srgbClr val="E8EFFC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2026.1–2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1879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央企要建算力，不只是用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260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带头用 AI 改造主业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41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带动产业链一起上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111500"/>
            <a:ext cx="7112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关键信号：找场景的任务已下放到子企业。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2000" y="1397000"/>
            <a:ext cx="711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集团 111 号文已落地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1A56DB"/>
                </a:solidFill>
                <a:highlight>
                  <a:srgbClr val="E8EFFC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2025.12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1879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建底座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— 中建数科负责算力+建证大模型门户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2260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找场景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— 各子企业从小切口入手，自行探索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26416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出产品</a:t>
            </a:r>
            <a:r>
              <a:rPr lang="en-US" sz="16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— 有能力的子企业，三到五年形成产品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3111500"/>
            <a:ext cx="7112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文兵：</a:t>
            </a: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"三到五年形成一批有市场竞争力的 AI+建筑产品。"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3619500"/>
            <a:ext cx="14732000" cy="12700"/>
          </a:xfrm>
          <a:prstGeom prst="rect">
            <a:avLst/>
          </a:prstGeom>
          <a:solidFill>
            <a:srgbClr val="E5E7EB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62000" y="3810000"/>
            <a:ext cx="762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建证大模型平台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059669"/>
                </a:solidFill>
                <a:highlight>
                  <a:srgbClr val="ECFDF5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2025.9 上线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318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62000" y="4419600"/>
            <a:ext cx="4699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285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62000" y="5181600"/>
            <a:ext cx="469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基础模型接口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4318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715000" y="4419600"/>
            <a:ext cx="4699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3018万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5715000" y="5181600"/>
            <a:ext cx="469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累计 API 调用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668000" y="43180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668000" y="4419600"/>
            <a:ext cx="482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2183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0668000" y="5181600"/>
            <a:ext cx="482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372500"/>
            <a:ext cx="13970000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来源：2026.1.28 国新办发布会（庞骁刚）；2026.2.10 国资委深化部署会（张玉卓）；中建信字〔2025〕111号；文兵 2026.2.27 讲话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3_Blue_digital_transformation_Images.png"/>
          <p:cNvPicPr>
            <a:picLocks noChangeAspect="1"/>
          </p:cNvPicPr>
          <p:nvPr/>
        </p:nvPicPr>
        <p:blipFill>
          <a:blip r:embed="rId1"/>
          <a:srcRect t="12500" b="125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40AF"/>
              </a:gs>
              <a:gs pos="60000">
                <a:srgbClr val="1E40AF">
                  <a:alpha val="80000"/>
                </a:srgbClr>
              </a:gs>
              <a:gs pos="100000">
                <a:srgbClr val="1E40AF">
                  <a:alpha val="53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62000" y="2286000"/>
            <a:ext cx="381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02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635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行业变化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62000" y="5207000"/>
            <a:ext cx="635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别人在做什么 — 全球对标与差距分析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381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第二部分 · 行业对标与差距分析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全球建筑业 AI：真金白银在落地的案例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2000" y="1397000"/>
            <a:ext cx="63500" cy="2222500"/>
          </a:xfrm>
          <a:prstGeom prst="rect">
            <a:avLst/>
          </a:prstGeom>
          <a:solidFill>
            <a:srgbClr val="CC0000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16000" y="1498600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🇬🇧 英国 · Balfour Beatty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1841500"/>
            <a:ext cx="6667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StoaOne + Copilot 全员部署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16000" y="22352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6000" y="2235200"/>
            <a:ext cx="1016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LLM ·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6000" y="25908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英国最大建筑商，2025.7完成AI全员上线。投资720万镑，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试点生产率↑14-15%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91500" y="1397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191500" y="1397000"/>
            <a:ext cx="63500" cy="2222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45500" y="14986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🇦🇹 奥地利 · Strabag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45500" y="1841500"/>
            <a:ext cx="6794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DARIA 财务风险预警系统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45500" y="2235200"/>
            <a:ext cx="1016000" cy="2794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45500" y="2235200"/>
            <a:ext cx="1016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ML · 2024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45500" y="2590800"/>
            <a:ext cx="6794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欧洲最大建筑集团之一，DARIA用机器学习预测项目财务风险。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准确率80%</a:t>
            </a: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，交通基建全面推广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38735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62000" y="3873500"/>
            <a:ext cx="63500" cy="22225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16000" y="3975100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🇯🇵 日本 · 鹿岛建设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6000" y="4318000"/>
            <a:ext cx="6667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A4CSEL 无人化施工系统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16000" y="47117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16000" y="4711700"/>
            <a:ext cx="177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AI自律 · 2020-2025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6000" y="50673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日本五大综合建设业，A4CSEL让AI学习熟练工操作数据，驱动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14台无人重型机械24h协同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91500" y="38735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191500" y="3873500"/>
            <a:ext cx="63500" cy="22225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45500" y="39751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🇸🇪 瑞典 · Skanska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45500" y="4318000"/>
            <a:ext cx="6794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Safety Sidekick + Dusty机器人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445500" y="4711700"/>
            <a:ext cx="2032000" cy="2794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45500" y="4711700"/>
            <a:ext cx="2032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LLM+机器人 · 2024-2025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45500" y="5067300"/>
            <a:ext cx="6794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全球前五大建筑商，AI图像识别实时检测安全隐患，Dusty放线机器人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单项目节省100万美元返工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2000" y="8664600"/>
            <a:ext cx="13970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来源：各公司官网；Construction News；MDPI；ENR</a:t>
            </a:r>
            <a:endParaRPr lang="en-US" sz="1300" dirty="0"/>
          </a:p>
        </p:txBody>
      </p:sp>
      <p:pic>
        <p:nvPicPr>
          <p:cNvPr id="33" name="Picture 32" descr="logo-balfourbeat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000" y="1425000"/>
            <a:ext cx="240000" cy="240000"/>
          </a:xfrm>
          <a:prstGeom prst="rect">
            <a:avLst/>
          </a:prstGeom>
        </p:spPr>
      </p:pic>
      <p:pic>
        <p:nvPicPr>
          <p:cNvPr id="34" name="Picture 33" descr="logo-stra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000" y="1425000"/>
            <a:ext cx="240000" cy="240000"/>
          </a:xfrm>
          <a:prstGeom prst="rect">
            <a:avLst/>
          </a:prstGeom>
        </p:spPr>
      </p:pic>
      <p:pic>
        <p:nvPicPr>
          <p:cNvPr id="35" name="Picture 34" descr="logo-kaj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00" y="3900000"/>
            <a:ext cx="240000" cy="240000"/>
          </a:xfrm>
          <a:prstGeom prst="rect">
            <a:avLst/>
          </a:prstGeom>
        </p:spPr>
      </p:pic>
      <p:pic>
        <p:nvPicPr>
          <p:cNvPr id="36" name="Picture 35" descr="logo-skans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00" y="3900000"/>
            <a:ext cx="240000" cy="24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第二部分 · 行业对标与差距分析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跨界颠覆者：科技巨头正在进入建筑行业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2000" y="1397000"/>
            <a:ext cx="63500" cy="2222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16000" y="1498600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🇺🇸 Google Cloud x 🇫🇷 Eiffage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1841500"/>
            <a:ext cx="6667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Vertex AI + Gemini 全链覆盖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235200"/>
            <a:ext cx="1270000" cy="2794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6000" y="2235200"/>
            <a:ext cx="127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GenAI · 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6000" y="25908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15个高影响力AI用例，RFP/投标/设计/运维全链覆盖。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RFP分析 2天→20分钟</a:t>
            </a: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，2,500+员工完成AI强制培训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91500" y="1397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191500" y="1397000"/>
            <a:ext cx="63500" cy="22225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445500" y="14986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🇩🇪 西门子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45500" y="1841500"/>
            <a:ext cx="6794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Building X：AI + 数字孪生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45500" y="2235200"/>
            <a:ext cx="1778000" cy="2794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45500" y="2235200"/>
            <a:ext cx="177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数字孪生 · 2024-2026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45500" y="2590800"/>
            <a:ext cx="6794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从工业自动化跨界到建筑运营，AI管理建筑能效、暖通、安防。与英伟达Omniverse合作，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实测节能高达30%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38735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62000" y="3873500"/>
            <a:ext cx="63500" cy="2222500"/>
          </a:xfrm>
          <a:prstGeom prst="rect">
            <a:avLst/>
          </a:prstGeom>
          <a:solidFill>
            <a:srgbClr val="CC0000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16000" y="3975100"/>
            <a:ext cx="6667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🇺🇸 英伟达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6000" y="4318000"/>
            <a:ext cx="6667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Omniverse AEC 数字孪生平台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6000" y="4711700"/>
            <a:ext cx="1968500" cy="2794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16000" y="4711700"/>
            <a:ext cx="19685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数字孪生平台 · 2023-2025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6000" y="50673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从GPU跨界建筑数字孪生，基于OpenUSD的实时协作平台。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合作方：Autodesk、Bentley、Trimble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91500" y="38735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191500" y="3873500"/>
            <a:ext cx="63500" cy="22225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45500" y="3975100"/>
            <a:ext cx="67945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🇺🇸 微软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45500" y="4318000"/>
            <a:ext cx="67945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Azure DT + Copilot 建筑云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45500" y="4711700"/>
            <a:ext cx="1524000" cy="2794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45500" y="47117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云+AI · 2022-2025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45500" y="5067300"/>
            <a:ext cx="6794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Azure数字孪生IoT平台，从操作系统跨界到建筑云。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Bentley iTwin 构建于 Azure</a:t>
            </a: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，Copilot已覆盖建筑业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2000" y="8664600"/>
            <a:ext cx="13970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来源：各公司官网；TechCrunch；Wikipedia；Microsoft Learn</a:t>
            </a:r>
            <a:endParaRPr lang="en-US" sz="1300" dirty="0"/>
          </a:p>
        </p:txBody>
      </p:sp>
      <p:pic>
        <p:nvPicPr>
          <p:cNvPr id="33" name="Picture 32" descr="logo-googleclou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000" y="1425000"/>
            <a:ext cx="240000" cy="240000"/>
          </a:xfrm>
          <a:prstGeom prst="rect">
            <a:avLst/>
          </a:prstGeom>
        </p:spPr>
      </p:pic>
      <p:pic>
        <p:nvPicPr>
          <p:cNvPr id="34" name="Picture 33" descr="logo-siem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000" y="1425000"/>
            <a:ext cx="240000" cy="240000"/>
          </a:xfrm>
          <a:prstGeom prst="rect">
            <a:avLst/>
          </a:prstGeom>
        </p:spPr>
      </p:pic>
      <p:pic>
        <p:nvPicPr>
          <p:cNvPr id="35" name="Picture 34" descr="logo-nvi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00" y="3900000"/>
            <a:ext cx="240000" cy="240000"/>
          </a:xfrm>
          <a:prstGeom prst="rect">
            <a:avLst/>
          </a:prstGeom>
        </p:spPr>
      </p:pic>
      <p:pic>
        <p:nvPicPr>
          <p:cNvPr id="36" name="Picture 35" descr="logo-micro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00" y="3900000"/>
            <a:ext cx="240000" cy="24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第二部分 · 行业对标与差距分析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国内建筑 AI：不只是概念，已有标杆跑通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2000" y="1397000"/>
            <a:ext cx="63500" cy="2222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00200" y="1498600"/>
            <a:ext cx="609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隧道股份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1A56DB"/>
                </a:solidFill>
                <a:highlight>
                  <a:srgbClr val="E8EFFC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AI自主施工 · 2025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095500"/>
            <a:ext cx="66675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数智盾构2.0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：AI实现"推-拼-运"三核心全流程自主运行，毫米级精度（≤1mm）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自动化率95% · 能耗↓20% · 创9米级盾构单月829.8米世界纪录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1500" y="1397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191500" y="1397000"/>
            <a:ext cx="63500" cy="2222500"/>
          </a:xfrm>
          <a:prstGeom prst="rect">
            <a:avLst/>
          </a:prstGeom>
          <a:solidFill>
            <a:srgbClr val="CC0000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29700" y="14986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中交建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CC0000"/>
                </a:solidFill>
                <a:highlight>
                  <a:srgbClr val="FEF2F2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行业大模型 · 2024-2025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45500" y="2095500"/>
            <a:ext cx="67945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"蓝翼"大模型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：央企首个土木建筑行业大模型，140亿参数，覆盖309项AI场景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行业知识覆盖率75% · 准确率85% · 垂域子模型"穿岳/潜龙/飞虹"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38735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62000" y="3873500"/>
            <a:ext cx="63500" cy="22225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600200" y="3975100"/>
            <a:ext cx="609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上海建工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059669"/>
                </a:solidFill>
                <a:highlight>
                  <a:srgbClr val="ECFDF5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MaaS平台 · 2024-2025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6000" y="4572000"/>
            <a:ext cx="66675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"云工大模型"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：国内首个建筑AI MaaS平台，六大子系统覆盖"答算图案测查"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10万行业用户 · 累计使用超2500万人次 · 服务百余项重大工程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91500" y="38735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91500" y="3873500"/>
            <a:ext cx="63500" cy="22225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029700" y="39751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精工钢构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D97706"/>
                </a:solidFill>
                <a:highlight>
                  <a:srgbClr val="FFFBEB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AI工厂 · 2024-2025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45500" y="4572000"/>
            <a:ext cx="67945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"未来工厂"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：浙江省建筑业首座"未来工厂"，AI调图+机器人+数字孪生"1+2+N"架构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AI调图效率↑70% · 合格率＞99.7% · 虚拟预拼装成本削减约80%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64135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62000" y="6413500"/>
            <a:ext cx="63500" cy="6350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16000" y="6413500"/>
            <a:ext cx="1422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同行已跑通——四类路径都已有人验证。我们选的方向对，窗口期在缩短。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2000" y="8664600"/>
            <a:ext cx="13970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来源：人民网；中交集团/上海建工/精工钢构官网；各公司公开公告</a:t>
            </a:r>
            <a:endParaRPr lang="en-US" sz="1300" dirty="0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1630247"/>
            <a:ext cx="480000" cy="193907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0" y="1638505"/>
            <a:ext cx="480000" cy="177391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148700"/>
            <a:ext cx="627000" cy="1100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00" y="4143700"/>
            <a:ext cx="585000" cy="12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第二部分 · 行业对标与差距分析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中建系内部：AI已经跑出来了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中海、西南院、三局、安装——四家已跑出可量化的AI成果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" cy="2222500"/>
          </a:xfrm>
          <a:prstGeom prst="rect">
            <a:avLst/>
          </a:prstGeom>
          <a:solidFill>
            <a:srgbClr val="CC0000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600200" y="1816100"/>
            <a:ext cx="609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中海集团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CC0000"/>
                </a:solidFill>
                <a:highlight>
                  <a:srgbClr val="FEF2F2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AI测算 · 2025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413000"/>
            <a:ext cx="66675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"海小算"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立面测算AI工具——计算机视觉+AI算法驱动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6000" y="3200400"/>
            <a:ext cx="6667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7天 → 30分钟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91500" y="17145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91500" y="1714500"/>
            <a:ext cx="63500" cy="2222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29700" y="18161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中建西南院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1A56DB"/>
                </a:solidFill>
                <a:highlight>
                  <a:srgbClr val="E8EFFC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AI设计 · 2024-2025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45500" y="2413000"/>
            <a:ext cx="67945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ArchiMind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结构设计AI + </a:t>
            </a: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EasyBIM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自研BIM软件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5500" y="3200400"/>
            <a:ext cx="6794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国资委+工信部双认证 · 效率超Revit 100%+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4191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62000" y="4191000"/>
            <a:ext cx="63500" cy="22225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600200" y="4292600"/>
            <a:ext cx="6096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中建三局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059669"/>
                </a:solidFill>
                <a:highlight>
                  <a:srgbClr val="ECFDF5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LLM+成本 · 2025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6000" y="4889500"/>
            <a:ext cx="66675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天工云 + DeepSeek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清单智能匹配，央视报道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6000" y="5676900"/>
            <a:ext cx="6667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成本测算 4-7天 → 2-3天 · 准确度90%+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91500" y="4191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191500" y="4191000"/>
            <a:ext cx="63500" cy="22225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029700" y="4292600"/>
            <a:ext cx="6223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中建安装</a:t>
            </a:r>
            <a:r>
              <a:rPr lang="en-US" sz="18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100" dirty="0">
                <a:solidFill>
                  <a:srgbClr val="9CA3AF"/>
                </a:solidFill>
                <a:highlight>
                  <a:srgbClr val="F9FAFB">
                    <a:alpha val="100000"/>
                  </a:srgbClr>
                </a:highlight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AI建模 · 2026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445500" y="4889500"/>
            <a:ext cx="67945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"匠兴慧建"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支吊架AI模型，一键布置选型出图，科技日报报道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45500" y="5676900"/>
            <a:ext cx="6794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设计效率↑95% · 建模效率↑80%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2000" y="67310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62000" y="6731000"/>
            <a:ext cx="63500" cy="6350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016000" y="6731000"/>
            <a:ext cx="1422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四家，四条路——都是从自己的数据和场景长出来的。我们选的方向对，窗口期在缩短。</a:t>
            </a:r>
            <a:endParaRPr lang="en-US" sz="1800" dirty="0"/>
          </a:p>
        </p:txBody>
      </p:sp>
      <p:pic>
        <p:nvPicPr>
          <p:cNvPr id="36" name="Picture 35" descr="logo-zhongha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00" y="1825000"/>
            <a:ext cx="420000" cy="420000"/>
          </a:xfrm>
          <a:prstGeom prst="rect">
            <a:avLst/>
          </a:prstGeom>
        </p:spPr>
      </p:pic>
      <p:pic>
        <p:nvPicPr>
          <p:cNvPr id="37" name="Picture 36" descr="logo-cscec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000" y="1825000"/>
            <a:ext cx="420000" cy="420000"/>
          </a:xfrm>
          <a:prstGeom prst="rect">
            <a:avLst/>
          </a:prstGeom>
        </p:spPr>
      </p:pic>
      <p:pic>
        <p:nvPicPr>
          <p:cNvPr id="38" name="Picture 37" descr="logo-cscec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00" y="4301000"/>
            <a:ext cx="420000" cy="420000"/>
          </a:xfrm>
          <a:prstGeom prst="rect">
            <a:avLst/>
          </a:prstGeom>
        </p:spPr>
      </p:pic>
      <p:pic>
        <p:nvPicPr>
          <p:cNvPr id="39" name="Picture 38" descr="logo-cscec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000" y="4301000"/>
            <a:ext cx="420000" cy="42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524000"/>
            <a:ext cx="14732000" cy="2540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8EFFC"/>
              </a:gs>
              <a:gs pos="100000">
                <a:srgbClr val="F8FAFF"/>
              </a:gs>
            </a:gsLst>
            <a:lin ang="8100000" scaled="1"/>
          </a:gra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70000" y="1905000"/>
            <a:ext cx="1371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差距在应用层，不在技术层。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905000" y="2921000"/>
            <a:ext cx="12446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四层对标看下来——国际标杆、国资体系、建筑同行、中建系——技术不是问题，方向和数据才是。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4826000"/>
            <a:ext cx="14732000" cy="2032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1A56DB"/>
              </a:gs>
              <a:gs pos="100000">
                <a:srgbClr val="1E40AF"/>
              </a:gs>
            </a:gsLst>
            <a:lin ang="8100000" scaled="1"/>
          </a:gra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70000" y="5080000"/>
            <a:ext cx="1371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别人做什么不重要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70000" y="5905500"/>
            <a:ext cx="1371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重要的是我们选什么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8_Strategic_Planning_Tips.png"/>
          <p:cNvPicPr>
            <a:picLocks noChangeAspect="1"/>
          </p:cNvPicPr>
          <p:nvPr/>
        </p:nvPicPr>
        <p:blipFill>
          <a:blip r:embed="rId1"/>
          <a:srcRect t="8761" b="87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40AF"/>
              </a:gs>
              <a:gs pos="60000">
                <a:srgbClr val="1E40AF">
                  <a:alpha val="80000"/>
                </a:srgbClr>
              </a:gs>
              <a:gs pos="100000">
                <a:srgbClr val="1E40AF">
                  <a:alpha val="53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62000" y="2286000"/>
            <a:ext cx="381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03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635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战略选层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62000" y="52070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选对层级再行动 — 能做多深？做什么角色？凭什么赢？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381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397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 战略三问：能做多深？做什么角色？凭什么赢？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2000" y="1524000"/>
            <a:ext cx="4699000" cy="63500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16000" y="177800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16000" y="2476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技术纵深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咱们能做多深？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35560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70000" y="3683000"/>
            <a:ext cx="3683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技术现实决定 AI 可能性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1524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715000" y="1524000"/>
            <a:ext cx="4699000" cy="635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69000" y="177800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969000" y="2476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商业定位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69000" y="2984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咱们做什么生意？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6000" y="35560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23000" y="3683000"/>
            <a:ext cx="3683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065F4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商业角色决定天花板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68000" y="1524000"/>
            <a:ext cx="4826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668000" y="1524000"/>
            <a:ext cx="4826000" cy="635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922000" y="1778000"/>
            <a:ext cx="431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0922000" y="2476500"/>
            <a:ext cx="431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数据战略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22000" y="29845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咱们凭什么赢？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049000" y="3556000"/>
            <a:ext cx="4064000" cy="10160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176000" y="3683000"/>
            <a:ext cx="381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92400E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数据才是真正的壁垒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34000" y="2667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287000" y="2667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2000" y="5207000"/>
            <a:ext cx="14732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这三层不是选项题，是递进题——每一层都建立在上一层的现实之上。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62000" y="6096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先看能干什么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15000" y="6096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再看该干什么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668000" y="6096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最后看凭什么赢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技术纵深：我们能做哪一层？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762000" y="1397000"/>
          <a:ext cx="14732000" cy="3556000"/>
        </p:xfrm>
        <a:graphic>
          <a:graphicData uri="http://schemas.openxmlformats.org/drawingml/2006/table">
            <a:tbl>
              <a:tblPr/>
              <a:tblGrid>
                <a:gridCol w="2062480"/>
                <a:gridCol w="2946400"/>
                <a:gridCol w="1767840"/>
                <a:gridCol w="7955280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层级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做什么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投入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说明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L0 算力层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芯片、数据中心、云计算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千亿级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国家赛道，</a:t>
                      </a: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我们不碰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L1 基座模型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通用大模型训练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百亿级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巨头赛道，</a:t>
                      </a: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我们不碰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L2 行业小模型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用行业数据训练专用模型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千万~亿级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未来壁垒</a:t>
                      </a:r>
                      <a:r>
                        <a:rPr lang="en-US" sz="1600" dirty="0">
                          <a:solidFill>
                            <a:srgbClr val="D97706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——小模型+行业数据，是建筑央企的独特机会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A56DB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L3 应用集成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将AI能力嵌入具体业务场景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万~百万级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当前主战场——用成熟模型解决真实业务问题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L4 原生AI应用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AI原生产品、重新定义行业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十亿级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终极目标，</a:t>
                      </a: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现在还不是时候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270500"/>
            <a:ext cx="14732000" cy="1524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79500" y="5397500"/>
            <a:ext cx="1409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我们的选择很清晰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9500" y="5842000"/>
            <a:ext cx="14097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L0-L1 是别人做的事，我们不碰。L4 太远，先不去想。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当前主战场在 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L3 应用集成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——用成熟大模型解决真实业务问题。跑通后向 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L2 行业小模型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升级，用数据建壁垒。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18000" y="6985000"/>
            <a:ext cx="7620000" cy="50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8EFFC"/>
              </a:gs>
              <a:gs pos="100000">
                <a:srgbClr val="ECFDF5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18000" y="6985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先 L3 验证场景，再 L2 建壁垒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商业定位：我们做什么角色？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762000" y="1397000"/>
          <a:ext cx="14732000" cy="3302000"/>
        </p:xfrm>
        <a:graphic>
          <a:graphicData uri="http://schemas.openxmlformats.org/drawingml/2006/table">
            <a:tbl>
              <a:tblPr/>
              <a:tblGrid>
                <a:gridCol w="2062480"/>
                <a:gridCol w="2946400"/>
                <a:gridCol w="9723120"/>
              </a:tblGrid>
              <a:tr h="5613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角色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本质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例子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① 工具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帮你干活，省人省钱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用 AI 写会议纪要、做 PPT、自动填表 — 天花板低，容易被复制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② 产品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本身是你的产品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Notion AI、钉钉 AI、Copilot — 护城河难建，竞争激烈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7594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A56DB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③ 能力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嵌入核心业务，别人追不上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字节的推荐算法、特斯拉的 FSD — 投入大，但壁垒最深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④ 战略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重新定义你的行业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Uber 重构出行、Netflix 重构娱乐 — 极难，需要极强资源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016500"/>
            <a:ext cx="14732000" cy="1778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79500" y="5143500"/>
            <a:ext cx="1409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中建发展的选择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9500" y="5588000"/>
            <a:ext cx="14097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工具只是起点，不能当目标。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一步一步来：先拿工具试试水，试通了做成产品，产品跑起来数据就有了，有了数据别人就追不上了。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18000" y="7048500"/>
            <a:ext cx="7620000" cy="50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8EFFC"/>
              </a:gs>
              <a:gs pos="100000">
                <a:srgbClr val="ECFDF5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18000" y="7048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工具 → 产品 → 能力，逐步升级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数据战略：我们凭什么赢？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62000" y="1397000"/>
          <a:ext cx="14732000" cy="3302000"/>
        </p:xfrm>
        <a:graphic>
          <a:graphicData uri="http://schemas.openxmlformats.org/drawingml/2006/table">
            <a:tbl>
              <a:tblPr/>
              <a:tblGrid>
                <a:gridCol w="2062480"/>
                <a:gridCol w="2357120"/>
                <a:gridCol w="1473200"/>
                <a:gridCol w="2357120"/>
                <a:gridCol w="6482080"/>
              </a:tblGrid>
              <a:tr h="5613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层次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含义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AI 价值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例子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① 独占数据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只有你有别人拿不到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极高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最强护城河可以做深度产品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Bloomberg 40 年金融数据、字节用户行为数据。可以训练行业小模型，建立壁垒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② 半独占数据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你有优势，但别人也能拿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中等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先发优势，窗口期短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行业公开数据 + 私有积累 — 需要快速迭代建立壁垒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8585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③ 公开数据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谁都能拿到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无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无壁垒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11827"/>
                          </a:solidFill>
                          <a:latin typeface="MiSans Semibold" panose="00000700000000000000" charset="-122"/>
                          <a:ea typeface="MiSans Semibold" panose="00000700000000000000" charset="-122"/>
                          <a:cs typeface="MiSans Semibold" panose="00000700000000000000" charset="-122"/>
                        </a:rPr>
                        <a:t>只能做通用应用，无法建立壁垒</a:t>
                      </a:r>
                      <a:endParaRPr lang="en-US" sz="1600" dirty="0">
                        <a:latin typeface="MiSans Semibold" panose="00000700000000000000" charset="-122"/>
                        <a:ea typeface="MiSans Semibold" panose="00000700000000000000" charset="-122"/>
                        <a:cs typeface="MiSans Semibold" panose="00000700000000000000" charset="-122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016500"/>
            <a:ext cx="14732000" cy="1778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79500" y="5143500"/>
            <a:ext cx="1409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中建发展的数据优势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9500" y="5588000"/>
            <a:ext cx="14097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10 万亿交易 + 2300 万工人 + 110 万供应商——这些是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独占数据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，别人拿不到。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先让产品跑起来，数据自然就来了；有了数据，就能训我们自己的模型；模型一旦跑通，别人想抄也抄不走。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83000" y="7048500"/>
            <a:ext cx="8890000" cy="50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8EFFC"/>
              </a:gs>
              <a:gs pos="100000">
                <a:srgbClr val="ECFDF5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83000" y="70485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说白了，数据才是咱们最值钱的东西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中建发展的战略选择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2000" y="1460500"/>
            <a:ext cx="63500" cy="2286000"/>
          </a:xfrm>
          <a:prstGeom prst="rect">
            <a:avLst/>
          </a:prstGeom>
          <a:solidFill>
            <a:srgbClr val="1E40AF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79500" y="1587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 技术纵深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9500" y="2159000"/>
            <a:ext cx="406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选了应用集成 + 小模型，排除大模型和通用工具，专注垂直场景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460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715000" y="1460500"/>
            <a:ext cx="63500" cy="22860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032500" y="1587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 商业定位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2500" y="2159000"/>
            <a:ext cx="406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选了产品起步 → 能力演进，排除纯工具（不赚钱）和纯战略（太远）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460500"/>
            <a:ext cx="4826000" cy="228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668000" y="1460500"/>
            <a:ext cx="63500" cy="22860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985500" y="1587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 数据战略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85500" y="2159000"/>
            <a:ext cx="4191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选了独占数据筑墙，排除公开数据和纯技术竞争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127500"/>
            <a:ext cx="14732000" cy="1651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43000" y="4254500"/>
            <a:ext cx="139700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说到底，大模型是国家队的事，通用工具谁都能做。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咱们就做一件事：</a:t>
            </a: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用咱们自己的数据，做建筑行业别人抄不走的产品。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资源禀赋：数据、产品、产业、渠道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2000" y="1397000"/>
            <a:ext cx="7175500" cy="63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16000" y="162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1A56DB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73200" y="15875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数据资产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2159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10万亿+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16000" y="2730500"/>
            <a:ext cx="215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累计交易额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02000" y="2159000"/>
            <a:ext cx="2159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超2300万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02000" y="2730500"/>
            <a:ext cx="215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在册工人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88000" y="2159000"/>
            <a:ext cx="2159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140万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88000" y="2730500"/>
            <a:ext cx="215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招标数据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6000" y="3175000"/>
            <a:ext cx="66675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建筑行业信息化极低，这些数据只有我们有。别人想做这些产品，</a:t>
            </a: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没有这个数据基础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91500" y="1397000"/>
            <a:ext cx="73025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191500" y="1397000"/>
            <a:ext cx="7302500" cy="635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45500" y="162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59669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02700" y="15875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已跑通的产品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445500" y="2159000"/>
            <a:ext cx="6794500" cy="406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36000" y="2159000"/>
            <a:ext cx="6413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云筑AI大模型</a:t>
            </a:r>
            <a:r>
              <a:rPr lang="en-US" sz="15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中建商业化AI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45500" y="2667000"/>
            <a:ext cx="6794500" cy="406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36000" y="2667000"/>
            <a:ext cx="6413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云智采 1.0</a:t>
            </a:r>
            <a:r>
              <a:rPr lang="en-US" sz="15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集团集采平台AI升级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445500" y="3175000"/>
            <a:ext cx="6794500" cy="406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36000" y="3175000"/>
            <a:ext cx="6413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国际工程AI审查</a:t>
            </a:r>
            <a:r>
              <a:rPr lang="en-US" sz="15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海外部认可，履约中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45500" y="3683000"/>
            <a:ext cx="6794500" cy="406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36000" y="3683000"/>
            <a:ext cx="6413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制度AI审核</a:t>
            </a:r>
            <a:r>
              <a:rPr lang="en-US" sz="15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已服务集团办公厅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2000" y="4699000"/>
            <a:ext cx="7175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62000" y="4699000"/>
            <a:ext cx="7175500" cy="63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16000" y="492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1A56DB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73200" y="48895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产业能力依托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16000" y="5461000"/>
            <a:ext cx="66675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中建生态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水务运营AI化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中建环能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离心机龙头 · 33年制造底蕴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中建智能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智慧运营平台经验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191500" y="4699000"/>
            <a:ext cx="7302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191500" y="4699000"/>
            <a:ext cx="7302500" cy="635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445500" y="492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8983" y="66675"/>
                </a:moveTo>
                <a:cubicBezTo>
                  <a:pt x="248735" y="66675"/>
                  <a:pt x="238795" y="69800"/>
                  <a:pt x="230090" y="75496"/>
                </a:cubicBezTo>
                <a:cubicBezTo>
                  <a:pt x="220336" y="64383"/>
                  <a:pt x="208977" y="55076"/>
                  <a:pt x="196444" y="48062"/>
                </a:cubicBezTo>
                <a:cubicBezTo>
                  <a:pt x="213854" y="31393"/>
                  <a:pt x="236017" y="22225"/>
                  <a:pt x="258983" y="22225"/>
                </a:cubicBezTo>
                <a:cubicBezTo>
                  <a:pt x="312323" y="22225"/>
                  <a:pt x="355600" y="70842"/>
                  <a:pt x="355600" y="130919"/>
                </a:cubicBezTo>
                <a:cubicBezTo>
                  <a:pt x="355600" y="159742"/>
                  <a:pt x="345414" y="187385"/>
                  <a:pt x="327325" y="207734"/>
                </a:cubicBezTo>
                <a:lnTo>
                  <a:pt x="283430" y="257115"/>
                </a:lnTo>
                <a:cubicBezTo>
                  <a:pt x="265342" y="277465"/>
                  <a:pt x="240771" y="288925"/>
                  <a:pt x="215150" y="288925"/>
                </a:cubicBezTo>
                <a:cubicBezTo>
                  <a:pt x="161810" y="288925"/>
                  <a:pt x="118533" y="240308"/>
                  <a:pt x="118533" y="180231"/>
                </a:cubicBezTo>
                <a:cubicBezTo>
                  <a:pt x="118533" y="179189"/>
                  <a:pt x="118533" y="178147"/>
                  <a:pt x="118595" y="177105"/>
                </a:cubicBezTo>
                <a:cubicBezTo>
                  <a:pt x="118904" y="164812"/>
                  <a:pt x="127979" y="155158"/>
                  <a:pt x="138906" y="155506"/>
                </a:cubicBezTo>
                <a:cubicBezTo>
                  <a:pt x="149834" y="155853"/>
                  <a:pt x="158415" y="166062"/>
                  <a:pt x="158106" y="178356"/>
                </a:cubicBezTo>
                <a:cubicBezTo>
                  <a:pt x="158106" y="178981"/>
                  <a:pt x="158106" y="179606"/>
                  <a:pt x="158106" y="180161"/>
                </a:cubicBezTo>
                <a:cubicBezTo>
                  <a:pt x="158106" y="215652"/>
                  <a:pt x="183665" y="244406"/>
                  <a:pt x="215212" y="244406"/>
                </a:cubicBezTo>
                <a:cubicBezTo>
                  <a:pt x="230337" y="244406"/>
                  <a:pt x="244845" y="237669"/>
                  <a:pt x="255588" y="225584"/>
                </a:cubicBezTo>
                <a:lnTo>
                  <a:pt x="299482" y="176203"/>
                </a:lnTo>
                <a:cubicBezTo>
                  <a:pt x="310162" y="164187"/>
                  <a:pt x="316212" y="147796"/>
                  <a:pt x="316212" y="130780"/>
                </a:cubicBezTo>
                <a:cubicBezTo>
                  <a:pt x="316212" y="95290"/>
                  <a:pt x="290654" y="66536"/>
                  <a:pt x="259106" y="66536"/>
                </a:cubicBezTo>
                <a:close/>
                <a:moveTo>
                  <a:pt x="169898" y="120362"/>
                </a:moveTo>
                <a:cubicBezTo>
                  <a:pt x="168725" y="119807"/>
                  <a:pt x="167552" y="119043"/>
                  <a:pt x="166502" y="118209"/>
                </a:cubicBezTo>
                <a:cubicBezTo>
                  <a:pt x="158724" y="113695"/>
                  <a:pt x="149834" y="111125"/>
                  <a:pt x="140511" y="111125"/>
                </a:cubicBezTo>
                <a:cubicBezTo>
                  <a:pt x="125386" y="111125"/>
                  <a:pt x="110878" y="117862"/>
                  <a:pt x="100136" y="129947"/>
                </a:cubicBezTo>
                <a:lnTo>
                  <a:pt x="56242" y="179328"/>
                </a:lnTo>
                <a:cubicBezTo>
                  <a:pt x="45561" y="191343"/>
                  <a:pt x="39511" y="207734"/>
                  <a:pt x="39511" y="224750"/>
                </a:cubicBezTo>
                <a:cubicBezTo>
                  <a:pt x="39511" y="260241"/>
                  <a:pt x="65070" y="288994"/>
                  <a:pt x="96617" y="288994"/>
                </a:cubicBezTo>
                <a:cubicBezTo>
                  <a:pt x="106803" y="288994"/>
                  <a:pt x="116743" y="285939"/>
                  <a:pt x="125448" y="280243"/>
                </a:cubicBezTo>
                <a:cubicBezTo>
                  <a:pt x="135202" y="291356"/>
                  <a:pt x="146562" y="300663"/>
                  <a:pt x="159156" y="307677"/>
                </a:cubicBezTo>
                <a:cubicBezTo>
                  <a:pt x="141746" y="324277"/>
                  <a:pt x="119645" y="333514"/>
                  <a:pt x="96617" y="333514"/>
                </a:cubicBezTo>
                <a:cubicBezTo>
                  <a:pt x="43277" y="333514"/>
                  <a:pt x="0" y="284897"/>
                  <a:pt x="0" y="224820"/>
                </a:cubicBezTo>
                <a:cubicBezTo>
                  <a:pt x="0" y="195997"/>
                  <a:pt x="10186" y="168354"/>
                  <a:pt x="28275" y="148005"/>
                </a:cubicBezTo>
                <a:lnTo>
                  <a:pt x="72170" y="98623"/>
                </a:lnTo>
                <a:cubicBezTo>
                  <a:pt x="90258" y="78274"/>
                  <a:pt x="114829" y="66814"/>
                  <a:pt x="140450" y="66814"/>
                </a:cubicBezTo>
                <a:cubicBezTo>
                  <a:pt x="193913" y="66814"/>
                  <a:pt x="237067" y="115848"/>
                  <a:pt x="237067" y="175786"/>
                </a:cubicBezTo>
                <a:cubicBezTo>
                  <a:pt x="237067" y="176689"/>
                  <a:pt x="237067" y="177592"/>
                  <a:pt x="237067" y="178495"/>
                </a:cubicBezTo>
                <a:cubicBezTo>
                  <a:pt x="236820" y="190788"/>
                  <a:pt x="227745" y="200442"/>
                  <a:pt x="216817" y="200164"/>
                </a:cubicBezTo>
                <a:cubicBezTo>
                  <a:pt x="205890" y="199886"/>
                  <a:pt x="197309" y="189676"/>
                  <a:pt x="197556" y="177383"/>
                </a:cubicBezTo>
                <a:cubicBezTo>
                  <a:pt x="197556" y="176828"/>
                  <a:pt x="197556" y="176341"/>
                  <a:pt x="197556" y="175786"/>
                </a:cubicBezTo>
                <a:cubicBezTo>
                  <a:pt x="197556" y="152380"/>
                  <a:pt x="186443" y="131822"/>
                  <a:pt x="169898" y="120501"/>
                </a:cubicBezTo>
                <a:close/>
              </a:path>
            </a:pathLst>
          </a:custGeom>
          <a:solidFill>
            <a:srgbClr val="D97706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902700" y="48895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渠道网络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445500" y="5461000"/>
            <a:ext cx="67945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云筑网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110万供应商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中建大厦楼内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设计院/工程局，试点零成本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集团通道</a:t>
            </a: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</a:t>
            </a: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海外部/办公厅，已建立信任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62000" y="7239000"/>
            <a:ext cx="14732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当然不能四张牌一起打——得想清楚</a:t>
            </a:r>
            <a:r>
              <a:rPr lang="en-US" sz="20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先出哪张</a:t>
            </a:r>
            <a:r>
              <a:rPr lang="en-US" sz="20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。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第三部分 · 战略选层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三个初步思路：从战略框架到方向试探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2000" y="1524000"/>
            <a:ext cx="4699000" cy="63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16000" y="177800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16000" y="2476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招投标 / 合同审查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3048000"/>
            <a:ext cx="4191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已有数据，已跑通。用 AI 审标书、审合同，和铁小智方向一致——这条路同行已验证。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4318000"/>
            <a:ext cx="1143000" cy="330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16000" y="4318000"/>
            <a:ext cx="1143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已有成果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1524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715000" y="1524000"/>
            <a:ext cx="4699000" cy="635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69000" y="1778000"/>
            <a:ext cx="419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969000" y="2476500"/>
            <a:ext cx="4191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工地安全 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69000" y="3048000"/>
            <a:ext cx="4191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硬件 + 场景。AI 安全帽方向，Skanska 做软件我们做硬件，门槛更高。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9000" y="4318000"/>
            <a:ext cx="1397000" cy="330200"/>
          </a:xfrm>
          <a:prstGeom prst="roundRect">
            <a:avLst>
              <a:gd name="adj" fmla="val 50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69000" y="4318000"/>
            <a:ext cx="1397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硬件+场景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668000" y="1524000"/>
            <a:ext cx="4826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668000" y="1524000"/>
            <a:ext cx="4826000" cy="635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922000" y="1778000"/>
            <a:ext cx="431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0922000" y="2476500"/>
            <a:ext cx="431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水务 / 环保智能化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22000" y="3048000"/>
            <a:ext cx="431800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产业依托。中建生态、中建环能的场景，已有 AI 助手跑通。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4318000"/>
            <a:ext cx="1143000" cy="330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922000" y="4318000"/>
            <a:ext cx="1143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产业依托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40000" y="5461000"/>
            <a:ext cx="11176000" cy="762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794000" y="5461000"/>
            <a:ext cx="1066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这三个方向只是抛砖引玉——每一条都从前面的逻辑推导而来，但不是最终结论。具体选哪个，需要大家一起讨论定。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6_Humanoid_robots_in_the_construction.png"/>
          <p:cNvPicPr>
            <a:picLocks noChangeAspect="1"/>
          </p:cNvPicPr>
          <p:nvPr/>
        </p:nvPicPr>
        <p:blipFill>
          <a:blip r:embed="rId1"/>
          <a:srcRect t="2753" b="275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40AF"/>
              </a:gs>
              <a:gs pos="60000">
                <a:srgbClr val="1E40AF">
                  <a:alpha val="80000"/>
                </a:srgbClr>
              </a:gs>
              <a:gs pos="100000">
                <a:srgbClr val="1E40AF">
                  <a:alpha val="53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62000" y="2286000"/>
            <a:ext cx="381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04</a:t>
            </a:r>
            <a:endParaRPr lang="en-US" sz="140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635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实践路径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62000" y="5207000"/>
            <a:ext cx="635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我们怎么做 — 从战略到行动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38100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第四部分 · 从战略到行动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从战略到行动：组织与个人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前面聊的都是方向，接下来说说具体怎么做。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71755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556000" y="2286000"/>
            <a:ext cx="1016000" cy="1016000"/>
          </a:xfrm>
          <a:prstGeom prst="ellipse">
            <a:avLst/>
          </a:prstGeom>
          <a:solidFill>
            <a:srgbClr val="1A56DB"/>
          </a:solidFill>
          <a:effectLst>
            <a:outerShdw blurRad="203200" dist="50800" dir="5400000" algn="bl" rotWithShape="0">
              <a:srgbClr val="1A56DB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7592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295275"/>
                </a:moveTo>
                <a:cubicBezTo>
                  <a:pt x="394920" y="295275"/>
                  <a:pt x="468086" y="231255"/>
                  <a:pt x="468086" y="152400"/>
                </a:cubicBezTo>
                <a:cubicBezTo>
                  <a:pt x="468086" y="73545"/>
                  <a:pt x="394920" y="9525"/>
                  <a:pt x="304800" y="9525"/>
                </a:cubicBezTo>
                <a:cubicBezTo>
                  <a:pt x="214680" y="9525"/>
                  <a:pt x="141514" y="73545"/>
                  <a:pt x="141514" y="152400"/>
                </a:cubicBezTo>
                <a:cubicBezTo>
                  <a:pt x="141514" y="231255"/>
                  <a:pt x="214680" y="295275"/>
                  <a:pt x="304800" y="295275"/>
                </a:cubicBezTo>
                <a:close/>
                <a:moveTo>
                  <a:pt x="264387" y="361950"/>
                </a:moveTo>
                <a:cubicBezTo>
                  <a:pt x="130356" y="361950"/>
                  <a:pt x="21771" y="456962"/>
                  <a:pt x="21771" y="574238"/>
                </a:cubicBezTo>
                <a:cubicBezTo>
                  <a:pt x="21771" y="593765"/>
                  <a:pt x="39869" y="609600"/>
                  <a:pt x="62185" y="609600"/>
                </a:cubicBezTo>
                <a:lnTo>
                  <a:pt x="547415" y="609600"/>
                </a:lnTo>
                <a:cubicBezTo>
                  <a:pt x="569731" y="609600"/>
                  <a:pt x="587829" y="593765"/>
                  <a:pt x="587829" y="574238"/>
                </a:cubicBezTo>
                <a:cubicBezTo>
                  <a:pt x="587829" y="456962"/>
                  <a:pt x="479244" y="361950"/>
                  <a:pt x="345213" y="361950"/>
                </a:cubicBezTo>
                <a:lnTo>
                  <a:pt x="264387" y="361950"/>
                </a:lnTo>
                <a:close/>
              </a:path>
            </a:pathLst>
          </a:custGeom>
          <a:solidFill>
            <a:srgbClr val="FFFFFF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70000" y="3556000"/>
            <a:ext cx="6096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个人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270000" y="4318000"/>
            <a:ext cx="6096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五个人已经做到了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937000" y="4889500"/>
            <a:ext cx="1270000" cy="381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70000" y="5080000"/>
            <a:ext cx="6096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我同事能做到，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我也能做到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91500" y="1905000"/>
            <a:ext cx="73025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112500" y="2286000"/>
            <a:ext cx="1016000" cy="1016000"/>
          </a:xfrm>
          <a:prstGeom prst="ellipse">
            <a:avLst/>
          </a:prstGeom>
          <a:solidFill>
            <a:srgbClr val="059669"/>
          </a:solidFill>
          <a:effectLst>
            <a:outerShdw blurRad="203200" dist="50800" dir="5400000" algn="bl" rotWithShape="0">
              <a:srgbClr val="05966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3157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0" y="0"/>
                </a:moveTo>
                <a:cubicBezTo>
                  <a:pt x="45561" y="0"/>
                  <a:pt x="0" y="34171"/>
                  <a:pt x="0" y="76200"/>
                </a:cubicBezTo>
                <a:lnTo>
                  <a:pt x="0" y="533400"/>
                </a:lnTo>
                <a:cubicBezTo>
                  <a:pt x="0" y="575429"/>
                  <a:pt x="45561" y="609600"/>
                  <a:pt x="101600" y="609600"/>
                </a:cubicBezTo>
                <a:lnTo>
                  <a:pt x="508000" y="609600"/>
                </a:lnTo>
                <a:cubicBezTo>
                  <a:pt x="564039" y="609600"/>
                  <a:pt x="609600" y="575429"/>
                  <a:pt x="609600" y="533400"/>
                </a:cubicBezTo>
                <a:lnTo>
                  <a:pt x="609600" y="76200"/>
                </a:lnTo>
                <a:cubicBezTo>
                  <a:pt x="609600" y="34171"/>
                  <a:pt x="564039" y="0"/>
                  <a:pt x="508000" y="0"/>
                </a:cubicBezTo>
                <a:lnTo>
                  <a:pt x="101600" y="0"/>
                </a:lnTo>
                <a:close/>
                <a:moveTo>
                  <a:pt x="279400" y="419100"/>
                </a:moveTo>
                <a:lnTo>
                  <a:pt x="330200" y="419100"/>
                </a:lnTo>
                <a:cubicBezTo>
                  <a:pt x="358299" y="419100"/>
                  <a:pt x="381000" y="436126"/>
                  <a:pt x="381000" y="457200"/>
                </a:cubicBezTo>
                <a:lnTo>
                  <a:pt x="381000" y="552450"/>
                </a:lnTo>
                <a:lnTo>
                  <a:pt x="228600" y="552450"/>
                </a:lnTo>
                <a:lnTo>
                  <a:pt x="228600" y="457200"/>
                </a:lnTo>
                <a:cubicBezTo>
                  <a:pt x="228600" y="436126"/>
                  <a:pt x="251301" y="419100"/>
                  <a:pt x="279400" y="419100"/>
                </a:cubicBezTo>
                <a:close/>
                <a:moveTo>
                  <a:pt x="152400" y="133350"/>
                </a:moveTo>
                <a:cubicBezTo>
                  <a:pt x="152400" y="122873"/>
                  <a:pt x="163830" y="114300"/>
                  <a:pt x="177800" y="114300"/>
                </a:cubicBezTo>
                <a:lnTo>
                  <a:pt x="228600" y="114300"/>
                </a:lnTo>
                <a:cubicBezTo>
                  <a:pt x="242570" y="114300"/>
                  <a:pt x="254000" y="122873"/>
                  <a:pt x="254000" y="133350"/>
                </a:cubicBezTo>
                <a:lnTo>
                  <a:pt x="254000" y="171450"/>
                </a:lnTo>
                <a:cubicBezTo>
                  <a:pt x="254000" y="181928"/>
                  <a:pt x="242570" y="190500"/>
                  <a:pt x="228600" y="190500"/>
                </a:cubicBezTo>
                <a:lnTo>
                  <a:pt x="177800" y="190500"/>
                </a:lnTo>
                <a:cubicBezTo>
                  <a:pt x="163830" y="190500"/>
                  <a:pt x="152400" y="181928"/>
                  <a:pt x="152400" y="171450"/>
                </a:cubicBezTo>
                <a:lnTo>
                  <a:pt x="152400" y="133350"/>
                </a:lnTo>
                <a:close/>
                <a:moveTo>
                  <a:pt x="381000" y="114300"/>
                </a:moveTo>
                <a:lnTo>
                  <a:pt x="431800" y="114300"/>
                </a:lnTo>
                <a:cubicBezTo>
                  <a:pt x="445770" y="114300"/>
                  <a:pt x="457200" y="122873"/>
                  <a:pt x="457200" y="133350"/>
                </a:cubicBezTo>
                <a:lnTo>
                  <a:pt x="457200" y="171450"/>
                </a:lnTo>
                <a:cubicBezTo>
                  <a:pt x="457200" y="181928"/>
                  <a:pt x="445770" y="190500"/>
                  <a:pt x="431800" y="190500"/>
                </a:cubicBezTo>
                <a:lnTo>
                  <a:pt x="381000" y="190500"/>
                </a:lnTo>
                <a:cubicBezTo>
                  <a:pt x="367030" y="190500"/>
                  <a:pt x="355600" y="181928"/>
                  <a:pt x="355600" y="171450"/>
                </a:cubicBezTo>
                <a:lnTo>
                  <a:pt x="355600" y="133350"/>
                </a:lnTo>
                <a:cubicBezTo>
                  <a:pt x="355600" y="122873"/>
                  <a:pt x="367030" y="114300"/>
                  <a:pt x="381000" y="114300"/>
                </a:cubicBezTo>
                <a:close/>
                <a:moveTo>
                  <a:pt x="152400" y="285750"/>
                </a:moveTo>
                <a:cubicBezTo>
                  <a:pt x="152400" y="275273"/>
                  <a:pt x="163830" y="266700"/>
                  <a:pt x="177800" y="266700"/>
                </a:cubicBezTo>
                <a:lnTo>
                  <a:pt x="228600" y="266700"/>
                </a:lnTo>
                <a:cubicBezTo>
                  <a:pt x="242570" y="266700"/>
                  <a:pt x="254000" y="275273"/>
                  <a:pt x="254000" y="285750"/>
                </a:cubicBezTo>
                <a:lnTo>
                  <a:pt x="254000" y="323850"/>
                </a:lnTo>
                <a:cubicBezTo>
                  <a:pt x="254000" y="334328"/>
                  <a:pt x="242570" y="342900"/>
                  <a:pt x="228600" y="342900"/>
                </a:cubicBezTo>
                <a:lnTo>
                  <a:pt x="177800" y="342900"/>
                </a:lnTo>
                <a:cubicBezTo>
                  <a:pt x="163830" y="342900"/>
                  <a:pt x="152400" y="334328"/>
                  <a:pt x="152400" y="323850"/>
                </a:cubicBezTo>
                <a:lnTo>
                  <a:pt x="152400" y="285750"/>
                </a:lnTo>
                <a:close/>
                <a:moveTo>
                  <a:pt x="381000" y="266700"/>
                </a:moveTo>
                <a:lnTo>
                  <a:pt x="431800" y="266700"/>
                </a:lnTo>
                <a:cubicBezTo>
                  <a:pt x="445770" y="266700"/>
                  <a:pt x="457200" y="275273"/>
                  <a:pt x="457200" y="285750"/>
                </a:cubicBezTo>
                <a:lnTo>
                  <a:pt x="457200" y="323850"/>
                </a:lnTo>
                <a:cubicBezTo>
                  <a:pt x="457200" y="334328"/>
                  <a:pt x="445770" y="342900"/>
                  <a:pt x="431800" y="342900"/>
                </a:cubicBezTo>
                <a:lnTo>
                  <a:pt x="381000" y="342900"/>
                </a:lnTo>
                <a:cubicBezTo>
                  <a:pt x="367030" y="342900"/>
                  <a:pt x="355600" y="334328"/>
                  <a:pt x="355600" y="323850"/>
                </a:cubicBezTo>
                <a:lnTo>
                  <a:pt x="355600" y="285750"/>
                </a:lnTo>
                <a:cubicBezTo>
                  <a:pt x="355600" y="275273"/>
                  <a:pt x="367030" y="266700"/>
                  <a:pt x="381000" y="26670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99500" y="3556000"/>
            <a:ext cx="6223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组织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699500" y="4318000"/>
            <a:ext cx="6223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试点、培训、建团队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493500" y="4889500"/>
            <a:ext cx="1270000" cy="381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99500" y="5080000"/>
            <a:ext cx="6223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怎么试、怎么推、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怎么建团队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第四部分 · 从战略到行动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身边人已经做到了：五个案例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五个人，五种角色——全部一个人完成，全部可以现场演示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" cy="1968500"/>
          </a:xfrm>
          <a:prstGeom prst="rect">
            <a:avLst/>
          </a:prstGeom>
          <a:solidFill>
            <a:srgbClr val="CC0000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16000" y="18161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商务经理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4191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非程序员 · 无代码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125亿合同管理平台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29845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数天完成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714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715000" y="1714500"/>
            <a:ext cx="63500" cy="19685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69000" y="18161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产品经理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69000" y="2222500"/>
            <a:ext cx="4191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基本不写代码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69000" y="25400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智慧养老平台前端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69000" y="29845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1周完成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68000" y="1714500"/>
            <a:ext cx="4826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668000" y="1714500"/>
            <a:ext cx="63500" cy="1968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22000" y="1816100"/>
            <a:ext cx="431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总工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22000" y="2222500"/>
            <a:ext cx="431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碎片时间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22000" y="25400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水务监控大屏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22000" y="29845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AI准确度</a:t>
            </a: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92%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40000" y="39370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540000" y="3937000"/>
            <a:ext cx="63500" cy="1968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94000" y="40386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前端开发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794000" y="4445000"/>
            <a:ext cx="4191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Claude Code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94000" y="4762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人才服务系统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94000" y="52070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已签合同交付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3000" y="3937000"/>
            <a:ext cx="4826000" cy="196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493000" y="3937000"/>
            <a:ext cx="63500" cy="19685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747000" y="4038600"/>
            <a:ext cx="431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后端开发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747000" y="4445000"/>
            <a:ext cx="431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Claude Code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47000" y="47625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智能评标中心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47000" y="52070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半天上线拿合同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2000" y="62230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16000" y="6223000"/>
            <a:ext cx="14224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五个人，五种角色——全部一人完成。时间从"月"变成"天"。你越懂业务，AI 就越好用。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第四部分 · 从战略到行动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组织应该做什么：试点、培训、建团队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让更多人动起来——不是研发部的事，是每个人的事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2000" y="1714500"/>
            <a:ext cx="63500" cy="2286000"/>
          </a:xfrm>
          <a:prstGeom prst="rect">
            <a:avLst/>
          </a:prstGeom>
          <a:solidFill>
            <a:srgbClr val="CC0000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16000" y="1841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① 跑试点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选成功概率最高的项目，6-12个月出可量化成果。不是选价值最大的——是选最可能做成的。试点成功，信心就有了。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0" y="1714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715000" y="1714500"/>
            <a:ext cx="63500" cy="22860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69000" y="1841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② 做培训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69000" y="2286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培训的重点不是教工具，是让业务主管知道 AI 能做什么、能提出好需求。最好的培训是"做中学"。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14500"/>
            <a:ext cx="482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668000" y="1714500"/>
            <a:ext cx="63500" cy="2286000"/>
          </a:xfrm>
          <a:prstGeom prst="rect">
            <a:avLst/>
          </a:prstGeom>
          <a:solidFill>
            <a:srgbClr val="1A56DB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922000" y="18415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③ 建团队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22000" y="2286000"/>
            <a:ext cx="4318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不一定要专门招 AI 团队，现有的人 + AI 工具就能跃升。先指定对接人，逐步培养 AI 种子人才。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2000" y="4254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已经在发生的组织实践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47625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16000" y="48260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中建智能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6000" y="5143500"/>
            <a:ext cx="419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海外部投标评审已交付</a:t>
            </a:r>
            <a:r>
              <a:rPr lang="en-US" sz="1400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 · 制度AI审核上线 · 软件团队转型AI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15000" y="47625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69000" y="4826000"/>
            <a:ext cx="4191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中建环能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69000" y="514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财务AI辅助评审已跑通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668000" y="4762500"/>
            <a:ext cx="4826000" cy="1016000"/>
          </a:xfrm>
          <a:prstGeom prst="roundRect">
            <a:avLst>
              <a:gd name="adj" fmla="val 8000"/>
            </a:avLst>
          </a:prstGeom>
          <a:solidFill>
            <a:srgbClr val="F9FAFB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922000" y="48260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9CA3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中建生态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22000" y="51435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江阴农污AI助手已跑通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6096000"/>
            <a:ext cx="14732000" cy="6350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16000" y="6096000"/>
            <a:ext cx="14224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建议启动路径：</a:t>
            </a:r>
            <a:r>
              <a:rPr lang="en-US" sz="1800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本周指定AI对接人 → 第2周确定第一个试点方向 → 一个月内出可演示成果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第四部分 · 从战略到行动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1016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下一步行动清单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1016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不贪多，三件事，三个时间窗口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2000" y="1778000"/>
            <a:ext cx="4699000" cy="63500"/>
          </a:xfrm>
          <a:prstGeom prst="rect">
            <a:avLst/>
          </a:prstGeom>
          <a:solidFill>
            <a:srgbClr val="059669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16000" y="2032000"/>
            <a:ext cx="1016000" cy="330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16000" y="20320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本周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4191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059669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用AI做一件事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16000" y="3175000"/>
            <a:ext cx="41910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个人：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让AI帮你写一份报告、审一份合同、做一份PPT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团队：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指定AI对接人，确定第一个工具的试用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17780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715000" y="1778000"/>
            <a:ext cx="4699000" cy="63500"/>
          </a:xfrm>
          <a:prstGeom prst="rect">
            <a:avLst/>
          </a:prstGeom>
          <a:solidFill>
            <a:srgbClr val="D97706"/>
          </a:solidFill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69000" y="2032000"/>
            <a:ext cx="1016000" cy="3302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69000" y="20320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本月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9000" y="2540000"/>
            <a:ext cx="4191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D97706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确定一个试点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69000" y="3175000"/>
            <a:ext cx="41910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从三个主攻方向中选一个成功率最高的，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6-12个月出可量化成果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。不选价值最大的，选最可能做成的。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668000" y="1778000"/>
            <a:ext cx="4826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668000" y="1778000"/>
            <a:ext cx="4826000" cy="63500"/>
          </a:xfrm>
          <a:prstGeom prst="rect">
            <a:avLst/>
          </a:prstGeom>
          <a:solidFill>
            <a:srgbClr val="CC0000"/>
          </a:solidFill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922000" y="2032000"/>
            <a:ext cx="1016000" cy="3302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922000" y="20320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本季度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22000" y="2540000"/>
            <a:ext cx="431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CC0000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跑通一个AI场景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922000" y="3175000"/>
            <a:ext cx="4318000" cy="190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出可演示的Demo，争取在集团AI创新大赛或场景申报中</a:t>
            </a:r>
            <a:r>
              <a:rPr lang="en-US" sz="1600" b="1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拿到一个国资委/集团认定</a:t>
            </a:r>
            <a:r>
              <a:rPr lang="en-US" sz="16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40000" y="5651500"/>
            <a:ext cx="11176000" cy="698500"/>
          </a:xfrm>
          <a:prstGeom prst="roundRect">
            <a:avLst>
              <a:gd name="adj" fmla="val 8000"/>
            </a:avLst>
          </a:prstGeom>
          <a:solidFill>
            <a:srgbClr val="E8EFFC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94000" y="5651500"/>
            <a:ext cx="10668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40A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三个窗口，从今天开始。先做，再想大的。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i4onq3lild72/mnt/agents/output/ai-presentation/images/5_24_593_Digital_Transformation_Background.png"/>
          <p:cNvPicPr>
            <a:picLocks noChangeAspect="1"/>
          </p:cNvPicPr>
          <p:nvPr/>
        </p:nvPicPr>
        <p:blipFill>
          <a:blip r:embed="rId1"/>
          <a:srcRect l="9596" r="959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87000"/>
                </a:srgbClr>
              </a:gs>
              <a:gs pos="50000">
                <a:srgbClr val="000000">
                  <a:alpha val="73000"/>
                </a:srgbClr>
              </a:gs>
              <a:gs pos="100000">
                <a:srgbClr val="000000">
                  <a:alpha val="87000"/>
                </a:srgbClr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588000" y="15240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1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立即动手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83000" y="2032000"/>
            <a:ext cx="889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现在开始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366000" y="3111500"/>
            <a:ext cx="1524000" cy="38100"/>
          </a:xfrm>
          <a:prstGeom prst="rect">
            <a:avLst/>
          </a:prstGeom>
          <a:gradFill flip="none" rotWithShape="1">
            <a:gsLst>
              <a:gs pos="0">
                <a:srgbClr val="1A56DB"/>
              </a:gs>
              <a:gs pos="100000">
                <a:srgbClr val="93C5FD"/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223000" y="3492500"/>
            <a:ext cx="3810000" cy="1778000"/>
          </a:xfrm>
          <a:prstGeom prst="roundRect">
            <a:avLst>
              <a:gd name="adj" fmla="val 8000"/>
            </a:avLst>
          </a:prstGeom>
          <a:solidFill>
            <a:srgbClr val="FFFFFF">
              <a:alpha val="94902"/>
            </a:srgbClr>
          </a:solidFill>
          <a:effectLst>
            <a:outerShdw blurRad="254000" dist="101600" dir="5400000" algn="bl" rotWithShape="0">
              <a:srgbClr val="000000">
                <a:alpha val="25098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477000" y="374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2571" y="158750"/>
                </a:moveTo>
                <a:lnTo>
                  <a:pt x="145143" y="158750"/>
                </a:lnTo>
                <a:lnTo>
                  <a:pt x="145143" y="95250"/>
                </a:lnTo>
                <a:lnTo>
                  <a:pt x="72571" y="95250"/>
                </a:lnTo>
                <a:lnTo>
                  <a:pt x="72571" y="158750"/>
                </a:lnTo>
                <a:close/>
                <a:moveTo>
                  <a:pt x="0" y="79375"/>
                </a:moveTo>
                <a:cubicBezTo>
                  <a:pt x="0" y="53082"/>
                  <a:pt x="24379" y="31750"/>
                  <a:pt x="54429" y="31750"/>
                </a:cubicBezTo>
                <a:lnTo>
                  <a:pt x="163286" y="31750"/>
                </a:lnTo>
                <a:cubicBezTo>
                  <a:pt x="193335" y="31750"/>
                  <a:pt x="217714" y="53082"/>
                  <a:pt x="217714" y="79375"/>
                </a:cubicBezTo>
                <a:lnTo>
                  <a:pt x="217714" y="174625"/>
                </a:lnTo>
                <a:cubicBezTo>
                  <a:pt x="217714" y="200918"/>
                  <a:pt x="193335" y="222250"/>
                  <a:pt x="163286" y="222250"/>
                </a:cubicBezTo>
                <a:lnTo>
                  <a:pt x="54429" y="222250"/>
                </a:lnTo>
                <a:cubicBezTo>
                  <a:pt x="24379" y="222250"/>
                  <a:pt x="0" y="200918"/>
                  <a:pt x="0" y="174625"/>
                </a:cubicBezTo>
                <a:lnTo>
                  <a:pt x="0" y="79375"/>
                </a:lnTo>
                <a:close/>
                <a:moveTo>
                  <a:pt x="72571" y="412750"/>
                </a:moveTo>
                <a:lnTo>
                  <a:pt x="145143" y="412750"/>
                </a:lnTo>
                <a:lnTo>
                  <a:pt x="145143" y="349250"/>
                </a:lnTo>
                <a:lnTo>
                  <a:pt x="72571" y="349250"/>
                </a:lnTo>
                <a:lnTo>
                  <a:pt x="72571" y="412750"/>
                </a:lnTo>
                <a:close/>
                <a:moveTo>
                  <a:pt x="0" y="333375"/>
                </a:moveTo>
                <a:cubicBezTo>
                  <a:pt x="0" y="307082"/>
                  <a:pt x="24379" y="285750"/>
                  <a:pt x="54429" y="285750"/>
                </a:cubicBezTo>
                <a:lnTo>
                  <a:pt x="163286" y="285750"/>
                </a:lnTo>
                <a:cubicBezTo>
                  <a:pt x="193335" y="285750"/>
                  <a:pt x="217714" y="307082"/>
                  <a:pt x="217714" y="333375"/>
                </a:cubicBezTo>
                <a:lnTo>
                  <a:pt x="217714" y="428625"/>
                </a:lnTo>
                <a:cubicBezTo>
                  <a:pt x="217714" y="454918"/>
                  <a:pt x="193335" y="476250"/>
                  <a:pt x="163286" y="476250"/>
                </a:cubicBezTo>
                <a:lnTo>
                  <a:pt x="54429" y="476250"/>
                </a:lnTo>
                <a:cubicBezTo>
                  <a:pt x="24379" y="476250"/>
                  <a:pt x="0" y="454918"/>
                  <a:pt x="0" y="428625"/>
                </a:cubicBezTo>
                <a:lnTo>
                  <a:pt x="0" y="333375"/>
                </a:lnTo>
                <a:close/>
                <a:moveTo>
                  <a:pt x="362857" y="95250"/>
                </a:moveTo>
                <a:lnTo>
                  <a:pt x="362857" y="158750"/>
                </a:lnTo>
                <a:lnTo>
                  <a:pt x="435429" y="158750"/>
                </a:lnTo>
                <a:lnTo>
                  <a:pt x="435429" y="95250"/>
                </a:lnTo>
                <a:lnTo>
                  <a:pt x="362857" y="95250"/>
                </a:lnTo>
                <a:close/>
                <a:moveTo>
                  <a:pt x="344714" y="31750"/>
                </a:moveTo>
                <a:lnTo>
                  <a:pt x="453571" y="31750"/>
                </a:lnTo>
                <a:cubicBezTo>
                  <a:pt x="483621" y="31750"/>
                  <a:pt x="508000" y="53082"/>
                  <a:pt x="508000" y="79375"/>
                </a:cubicBezTo>
                <a:lnTo>
                  <a:pt x="508000" y="174625"/>
                </a:lnTo>
                <a:cubicBezTo>
                  <a:pt x="508000" y="200918"/>
                  <a:pt x="483621" y="222250"/>
                  <a:pt x="453571" y="222250"/>
                </a:cubicBezTo>
                <a:lnTo>
                  <a:pt x="344714" y="222250"/>
                </a:lnTo>
                <a:cubicBezTo>
                  <a:pt x="314665" y="222250"/>
                  <a:pt x="290286" y="200918"/>
                  <a:pt x="290286" y="174625"/>
                </a:cubicBezTo>
                <a:lnTo>
                  <a:pt x="290286" y="79375"/>
                </a:lnTo>
                <a:cubicBezTo>
                  <a:pt x="290286" y="53082"/>
                  <a:pt x="314665" y="31750"/>
                  <a:pt x="344714" y="31750"/>
                </a:cubicBezTo>
                <a:close/>
                <a:moveTo>
                  <a:pt x="326571" y="349250"/>
                </a:moveTo>
                <a:cubicBezTo>
                  <a:pt x="306545" y="349250"/>
                  <a:pt x="290286" y="335023"/>
                  <a:pt x="290286" y="317500"/>
                </a:cubicBezTo>
                <a:cubicBezTo>
                  <a:pt x="290286" y="299977"/>
                  <a:pt x="306545" y="285750"/>
                  <a:pt x="326571" y="285750"/>
                </a:cubicBezTo>
                <a:cubicBezTo>
                  <a:pt x="346598" y="285750"/>
                  <a:pt x="362857" y="299977"/>
                  <a:pt x="362857" y="317500"/>
                </a:cubicBezTo>
                <a:cubicBezTo>
                  <a:pt x="362857" y="335023"/>
                  <a:pt x="346598" y="349250"/>
                  <a:pt x="326571" y="349250"/>
                </a:cubicBezTo>
                <a:close/>
                <a:moveTo>
                  <a:pt x="326571" y="412750"/>
                </a:moveTo>
                <a:cubicBezTo>
                  <a:pt x="346642" y="412750"/>
                  <a:pt x="362857" y="426938"/>
                  <a:pt x="362857" y="444500"/>
                </a:cubicBezTo>
                <a:cubicBezTo>
                  <a:pt x="362857" y="462062"/>
                  <a:pt x="346642" y="476250"/>
                  <a:pt x="326571" y="476250"/>
                </a:cubicBezTo>
                <a:cubicBezTo>
                  <a:pt x="306501" y="476250"/>
                  <a:pt x="290286" y="462062"/>
                  <a:pt x="290286" y="444500"/>
                </a:cubicBezTo>
                <a:cubicBezTo>
                  <a:pt x="290286" y="426938"/>
                  <a:pt x="306501" y="412750"/>
                  <a:pt x="326571" y="412750"/>
                </a:cubicBezTo>
                <a:close/>
                <a:moveTo>
                  <a:pt x="435429" y="444500"/>
                </a:moveTo>
                <a:cubicBezTo>
                  <a:pt x="435429" y="426938"/>
                  <a:pt x="451644" y="412750"/>
                  <a:pt x="471714" y="412750"/>
                </a:cubicBezTo>
                <a:cubicBezTo>
                  <a:pt x="491785" y="412750"/>
                  <a:pt x="508000" y="426938"/>
                  <a:pt x="508000" y="444500"/>
                </a:cubicBezTo>
                <a:cubicBezTo>
                  <a:pt x="508000" y="462062"/>
                  <a:pt x="491785" y="476250"/>
                  <a:pt x="471714" y="476250"/>
                </a:cubicBezTo>
                <a:cubicBezTo>
                  <a:pt x="451644" y="476250"/>
                  <a:pt x="435429" y="462062"/>
                  <a:pt x="435429" y="444500"/>
                </a:cubicBezTo>
                <a:close/>
                <a:moveTo>
                  <a:pt x="471714" y="349250"/>
                </a:moveTo>
                <a:cubicBezTo>
                  <a:pt x="451688" y="349250"/>
                  <a:pt x="435429" y="335023"/>
                  <a:pt x="435429" y="317500"/>
                </a:cubicBezTo>
                <a:cubicBezTo>
                  <a:pt x="435429" y="299977"/>
                  <a:pt x="451688" y="285750"/>
                  <a:pt x="471714" y="285750"/>
                </a:cubicBezTo>
                <a:cubicBezTo>
                  <a:pt x="491741" y="285750"/>
                  <a:pt x="508000" y="299977"/>
                  <a:pt x="508000" y="317500"/>
                </a:cubicBezTo>
                <a:cubicBezTo>
                  <a:pt x="508000" y="335023"/>
                  <a:pt x="491741" y="349250"/>
                  <a:pt x="471714" y="349250"/>
                </a:cubicBezTo>
                <a:close/>
                <a:moveTo>
                  <a:pt x="435429" y="381000"/>
                </a:moveTo>
                <a:cubicBezTo>
                  <a:pt x="435429" y="398523"/>
                  <a:pt x="419169" y="412750"/>
                  <a:pt x="399143" y="412750"/>
                </a:cubicBezTo>
                <a:cubicBezTo>
                  <a:pt x="379116" y="412750"/>
                  <a:pt x="362857" y="398523"/>
                  <a:pt x="362857" y="381000"/>
                </a:cubicBezTo>
                <a:cubicBezTo>
                  <a:pt x="362857" y="363477"/>
                  <a:pt x="379116" y="349250"/>
                  <a:pt x="399143" y="349250"/>
                </a:cubicBezTo>
                <a:cubicBezTo>
                  <a:pt x="419169" y="349250"/>
                  <a:pt x="435429" y="363477"/>
                  <a:pt x="435429" y="381000"/>
                </a:cubicBezTo>
                <a:close/>
              </a:path>
            </a:pathLst>
          </a:custGeom>
          <a:solidFill>
            <a:srgbClr val="1A56DB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112000" y="3683000"/>
            <a:ext cx="266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1827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扫码带走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112000" y="4064000"/>
            <a:ext cx="2667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56DB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"AI 今晚动手包"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77000" y="4508500"/>
            <a:ext cx="3302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3 个即用工具 · 2 个 prompt 模板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4B5563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今晚行动清单 · 数据安全提醒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40000" y="5588000"/>
            <a:ext cx="11176000" cy="889000"/>
          </a:xfrm>
          <a:prstGeom prst="roundRect">
            <a:avLst>
              <a:gd name="adj" fmla="val 8000"/>
            </a:avLst>
          </a:prstGeom>
          <a:solidFill>
            <a:srgbClr val="FFFFFF">
              <a:alpha val="12549"/>
            </a:srgbClr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794000" y="5588000"/>
            <a:ext cx="10668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希望三个月后，我们回头看</a:t>
            </a:r>
            <a:r>
              <a:rPr lang="en-US" sz="20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——已经有跑起来的试点和第一版 Demo。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588000" y="7112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 Semibold" panose="00000700000000000000" charset="-122"/>
                <a:ea typeface="MiSans Semibold" panose="00000700000000000000" charset="-122"/>
                <a:cs typeface="MiSans Semibold" panose="00000700000000000000" charset="-122"/>
              </a:rPr>
              <a:t>谢谢大家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6021</Words>
  <Application>WPS 演示</Application>
  <PresentationFormat>On-screen Show (16:9)</PresentationFormat>
  <Paragraphs>768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宋体</vt:lpstr>
      <vt:lpstr>Wingdings</vt:lpstr>
      <vt:lpstr>MiSans Semibold</vt:lpstr>
      <vt:lpstr>Calibri</vt:lpstr>
      <vt:lpstr>微软雅黑</vt:lpstr>
      <vt:lpstr>Arial Unicode MS</vt:lpstr>
      <vt:lpstr>等线</vt:lpstr>
      <vt:lpstr>??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AI时代：我们的选择与行动</dc:title>
  <dc:creator>Kimi</dc:creator>
  <dc:subject>AI时代：我们的选择与行动</dc:subject>
  <cp:lastModifiedBy>forestrain</cp:lastModifiedBy>
  <cp:revision>8</cp:revision>
  <dcterms:created xsi:type="dcterms:W3CDTF">2026-06-30T11:34:00Z</dcterms:created>
  <dcterms:modified xsi:type="dcterms:W3CDTF">2026-07-01T09:02:59Z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时代：我们的选择与行动","ContentProducer":"001191110108MACG2KBH8F10000","ProduceID":"19f17ed7-4442-8ab8-8000-00009a2a6e22","ReservedCode1":"","ContentPropagator":"001191110108MACG2KBH8F20000","PropagateID":"19f17ea5-2e32-8b24-8000-09ca83f3b7a2","ReservedCode2":""}</vt:lpwstr>
  </property>
  <property fmtid="{D5CDD505-2E9C-101B-9397-08002B2CF9AE}" pid="3" name="ICV">
    <vt:lpwstr>969AB9C1CE4442FD87FBECB9E850ED1C_12</vt:lpwstr>
  </property>
  <property fmtid="{D5CDD505-2E9C-101B-9397-08002B2CF9AE}" pid="4" name="KSOProductBuildVer">
    <vt:lpwstr>2052-12.1.0.26895</vt:lpwstr>
  </property>
</Properties>
</file>